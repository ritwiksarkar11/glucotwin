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" id="{2082887c-d0c9-0e5a-e398-84ae27a9f8f2}">
          <p14:sldIdLst>
            <p14:sldId id="256"/>
            <p14:sldId id="257"/>
            <p14:sldId id="258"/>
          </p14:sldIdLst>
        </p14:section>
        <p14:section name="Product" id="{a29156e2-0f74-55f0-b02f-78835b5a5b15}">
          <p14:sldIdLst>
            <p14:sldId id="259"/>
            <p14:sldId id="260"/>
          </p14:sldIdLst>
        </p14:section>
        <p14:section name="How it works" id="{f57f461f-64e7-7d16-1098-228587ac912b}">
          <p14:sldIdLst>
            <p14:sldId id="261"/>
            <p14:sldId id="262"/>
          </p14:sldIdLst>
        </p14:section>
        <p14:section name="Demo" id="{94b62292-30ad-8e0e-ec93-5aee2354b1ac}">
          <p14:sldIdLst>
            <p14:sldId id="263"/>
            <p14:sldId id="264"/>
          </p14:sldIdLst>
        </p14:section>
        <p14:section name="Evidence" id="{8fdaccaf-13a0-159c-12a9-cab7550aa9de}">
          <p14:sldIdLst>
            <p14:sldId id="265"/>
            <p14:sldId id="266"/>
            <p14:sldId id="267"/>
            <p14:sldId id="268"/>
            <p14:sldId id="269"/>
          </p14:sldIdLst>
        </p14:section>
        <p14:section name="Adoption" id="{0ad1acee-9060-a5f2-5239-2bea3d6bd620}">
          <p14:sldIdLst>
            <p14:sldId id="270"/>
            <p14:sldId id="271"/>
          </p14:sldIdLst>
        </p14:section>
        <p14:section name="Close" id="{a6640bc5-083f-6fe9-1a62-4707da9c925f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34155"/>
                </a:solidFill>
                <a:latin typeface="+mn-lt"/>
              </a:rPr>
              <a:t>AUPRC on held-out patients (higher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Static admission model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Low in 12 h</c:v>
                  </c:pt>
                  <c:pt idx="1">
                    <c:v>Severe high in 12 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0.11801054107893814</c:v>
                </c:pt>
                <c:pt idx="1">
                  <c:v>0.43559478485308883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Twin · fingersticks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Low in 12 h</c:v>
                  </c:pt>
                  <c:pt idx="1">
                    <c:v>Severe high in 12 h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0.47272377965484746</c:v>
                </c:pt>
                <c:pt idx="1">
                  <c:v>0.7518858279668219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Twin · CGM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Low in 12 h</c:v>
                  </c:pt>
                  <c:pt idx="1">
                    <c:v>Severe high in 12 h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0.5749449970687848</c:v>
                </c:pt>
                <c:pt idx="1">
                  <c:v>0.8491249226211833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3415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34155"/>
                </a:solidFill>
                <a:latin typeface="+mn-lt"/>
              </a:rPr>
              <a:t>Basal what-if: mean error vs counterfactual simulation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vs true effect (mg/dL)</c:v>
                </c:pt>
              </c:strCache>
            </c:strRef>
          </c:tx>
          <c:spPr>
            <a:solidFill>
              <a:srgbClr val="CBD5E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Assume no effect</c:v>
                  </c:pt>
                  <c:pt idx="1">
                    <c:v>Learned model</c:v>
                  </c:pt>
                  <c:pt idx="2">
                    <c:v>Pharmacology layer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13.345057878315362</c:v>
                </c:pt>
                <c:pt idx="1">
                  <c:v>12.185141553295654</c:v>
                </c:pt>
                <c:pt idx="2">
                  <c:v>6.102691942527245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GlucoTwin Ward gives every inpatient with diabetes a live glucose twin that helps the ward prevent lows, catch unsafe insulin doses, monitor the right patients and hand over properly at discharge.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general wards glucose is managed with fingersticks four times a day, paper sliding scales and one round a day. Four failure modes recur: lows between checks, insulin errors, missed steroid highs and missed new diabetes.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models score once at admission. CGM works in trials but is not yet a hospital standard. Dosing software is US-only. Nobody gives an Indian ward a live 12-hour picture per patient.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PM rule: no feature without a moment in the ward's existing day. Four screens, each used at a moment that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dashboard shows the past. This twin keeps each patient's state, uses orders already written, predicts, simulates and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simulator is realistic where it matters: steroid patients read about 156 at 07:30 and peak around 220 by evening; fingersticks find lows in 9% of admissions while CGM finds them in about a fifth.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5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CCFBF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GlucoTwin Ward · research prototype on synthetic patients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GlucoTwin Ward</a:t>
            </a:r>
            <a:endParaRPr lang="en-US" sz="5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CFBF1"/>
                </a:solidFill>
              </a:rPr>
              <a:t>A live glucose twin for every inpatient with diabetes: it warns about lows before they happen, checks insulin before it is given, targets monitoring and hands over new diabetes at discharge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9F6E4"/>
                </a:solidFill>
              </a:rPr>
              <a:t>[Team name] · Indian Institute of Management Lucknow · Digital Twin in Healthcare PoC Challenge 2026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EAD4"/>
                </a:solidFill>
              </a:rPr>
              <a:t>Research prototype on synthetic patients · not a medical device · never recommends a dose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on the ward goes wrong in predictable ways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in 4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inpatients has diabetes or high glucose (27-hospital bedside audit)</a:t>
            </a:r>
            <a:endParaRPr lang="en-US" sz="1350" dirty="0"/>
          </a:p>
        </p:txBody>
      </p:sp>
      <p:sp>
        <p:nvSpPr>
          <p:cNvPr id="5" name="card"/>
          <p:cNvSpPr/>
          <p:nvPr/>
        </p:nvSpPr>
        <p:spPr>
          <a:xfrm>
            <a:off x="4572000" y="1234440"/>
            <a:ext cx="7040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badge-1"/>
          <p:cNvSpPr/>
          <p:nvPr/>
        </p:nvSpPr>
        <p:spPr>
          <a:xfrm>
            <a:off x="4800600" y="153619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Lows happen between checks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7373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18% moderate and 2.8% severe lows in 54,502 admissions, linked to longer stays, readmission and 90-day mortality.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572000" y="2496312"/>
            <a:ext cx="7040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1" name="badge-2"/>
          <p:cNvSpPr/>
          <p:nvPr/>
        </p:nvSpPr>
        <p:spPr>
          <a:xfrm>
            <a:off x="4800600" y="2798064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6334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Insulin errors are routine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9992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Up to 39% of insulin-treated inpatients had an insulin error; 29% of surgical patients had a peri-operative diabetes plan.</a:t>
            </a:r>
            <a:endParaRPr lang="en-US" sz="1350" dirty="0"/>
          </a:p>
        </p:txBody>
      </p:sp>
      <p:sp>
        <p:nvSpPr>
          <p:cNvPr id="15" name="card"/>
          <p:cNvSpPr/>
          <p:nvPr/>
        </p:nvSpPr>
        <p:spPr>
          <a:xfrm>
            <a:off x="4572000" y="3758184"/>
            <a:ext cx="7040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6" name="badge-3"/>
          <p:cNvSpPr/>
          <p:nvPr/>
        </p:nvSpPr>
        <p:spPr>
          <a:xfrm>
            <a:off x="4800600" y="4059936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0060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89534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Steroid highs are missed by design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26110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Morning steroids push glucose up in the afternoon and evening; wards check fasting glucose.</a:t>
            </a:r>
            <a:endParaRPr lang="en-US" sz="1350" dirty="0"/>
          </a:p>
        </p:txBody>
      </p:sp>
      <p:sp>
        <p:nvSpPr>
          <p:cNvPr id="20" name="card"/>
          <p:cNvSpPr/>
          <p:nvPr/>
        </p:nvSpPr>
        <p:spPr>
          <a:xfrm>
            <a:off x="4572000" y="5020056"/>
            <a:ext cx="704088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1" name="badge-4"/>
          <p:cNvSpPr/>
          <p:nvPr/>
        </p:nvSpPr>
        <p:spPr>
          <a:xfrm>
            <a:off x="4800600" y="532180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0060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15721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New diabetes leaves undiagnosed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552297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About a quarter of hyperglycaemic admissions in a 2026 Delhi study had undiagnosed diabetes.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Sources: SHM Converge 2025 · Med J Aust 2021 (QuIDS) · Medicine Today 2014 · J Assoc Physicians India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research has not solved yet</a:t>
            </a:r>
            <a:endParaRPr lang="en-US" sz="3000" dirty="0"/>
          </a:p>
        </p:txBody>
      </p:sp>
      <p:sp>
        <p:nvSpPr>
          <p:cNvPr id="3" name="gap0"/>
          <p:cNvSpPr/>
          <p:nvPr/>
        </p:nvSpPr>
        <p:spPr>
          <a:xfrm>
            <a:off x="548640" y="137160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gd0"/>
          <p:cNvSpPr/>
          <p:nvPr/>
        </p:nvSpPr>
        <p:spPr>
          <a:xfrm>
            <a:off x="822960" y="164592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Hospital risk models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Retrospective, single-centre, predict once at admission; not tested in real time (2025 studies).</a:t>
            </a:r>
            <a:endParaRPr lang="en-US" sz="1400" dirty="0"/>
          </a:p>
        </p:txBody>
      </p:sp>
      <p:sp>
        <p:nvSpPr>
          <p:cNvPr id="7" name="gap1"/>
          <p:cNvSpPr/>
          <p:nvPr/>
        </p:nvSpPr>
        <p:spPr>
          <a:xfrm>
            <a:off x="4297680" y="137160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8" name="gd1"/>
          <p:cNvSpPr/>
          <p:nvPr/>
        </p:nvSpPr>
        <p:spPr>
          <a:xfrm>
            <a:off x="4572000" y="1645920"/>
            <a:ext cx="274320" cy="2743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Inpatient CGM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94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Cut serious lows in an RCT (Diabetes Care 2020), but not approved for hospital use in most places; needs staff and training.</a:t>
            </a:r>
            <a:endParaRPr lang="en-US" sz="1400" dirty="0"/>
          </a:p>
        </p:txBody>
      </p:sp>
      <p:sp>
        <p:nvSpPr>
          <p:cNvPr id="11" name="gap2"/>
          <p:cNvSpPr/>
          <p:nvPr/>
        </p:nvSpPr>
        <p:spPr>
          <a:xfrm>
            <a:off x="8046720" y="137160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2" name="gd2"/>
          <p:cNvSpPr/>
          <p:nvPr/>
        </p:nvSpPr>
        <p:spPr>
          <a:xfrm>
            <a:off x="8321040" y="1645920"/>
            <a:ext cx="274320" cy="27432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78240" y="15727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Insulin dosing software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945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The one mature system is US-only. Indian wards run on paper sliding scales.</a:t>
            </a:r>
            <a:endParaRPr lang="en-US" sz="1400" dirty="0"/>
          </a:p>
        </p:txBody>
      </p:sp>
      <p:sp>
        <p:nvSpPr>
          <p:cNvPr id="15" name="gapbox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CCFB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The gap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7091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live, patient-level picture of the next 12 hours, built from what the ward already records, that works on fingersticks today and uses a CGM when one is worn.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features, one screen each, at moments the ward already has</a:t>
            </a:r>
            <a:endParaRPr lang="en-US" sz="3000" dirty="0"/>
          </a:p>
        </p:txBody>
      </p:sp>
      <p:sp>
        <p:nvSpPr>
          <p:cNvPr id="3" name="f0"/>
          <p:cNvSpPr/>
          <p:nvPr/>
        </p:nvSpPr>
        <p:spPr>
          <a:xfrm>
            <a:off x="548640" y="13258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badge-1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819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Ward risk board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Shift start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231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Every patient sorted by chance of a low or severe high in the next 12 h, with reasons from their own record. Red only for lows.</a:t>
            </a:r>
            <a:endParaRPr lang="en-US" sz="1400" dirty="0"/>
          </a:p>
        </p:txBody>
      </p:sp>
      <p:sp>
        <p:nvSpPr>
          <p:cNvPr id="9" name="f1"/>
          <p:cNvSpPr/>
          <p:nvPr/>
        </p:nvSpPr>
        <p:spPr>
          <a:xfrm>
            <a:off x="6172200" y="13258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0" name="badge-2"/>
          <p:cNvSpPr/>
          <p:nvPr/>
        </p:nvSpPr>
        <p:spPr>
          <a:xfrm>
            <a:off x="6446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5819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give insulin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011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Before each dose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4231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Bedside checks plus the chance of a low if given, reduced or held. Doctors can try a dose. Never proposes one.</a:t>
            </a:r>
            <a:endParaRPr lang="en-US" sz="1400" dirty="0"/>
          </a:p>
        </p:txBody>
      </p:sp>
      <p:sp>
        <p:nvSpPr>
          <p:cNvPr id="15" name="f2"/>
          <p:cNvSpPr/>
          <p:nvPr/>
        </p:nvSpPr>
        <p:spPr>
          <a:xfrm>
            <a:off x="548640" y="36576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badge-3"/>
          <p:cNvSpPr/>
          <p:nvPr/>
        </p:nvSpPr>
        <p:spPr>
          <a:xfrm>
            <a:off x="82296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136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monitoring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343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Overnight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7548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An extra fingerstick at the riskiest hour for high-risk patients; a CGM for the highest-risk ones.</a:t>
            </a:r>
            <a:endParaRPr lang="en-US" sz="1400" dirty="0"/>
          </a:p>
        </p:txBody>
      </p:sp>
      <p:sp>
        <p:nvSpPr>
          <p:cNvPr id="21" name="f3"/>
          <p:cNvSpPr/>
          <p:nvPr/>
        </p:nvSpPr>
        <p:spPr>
          <a:xfrm>
            <a:off x="6172200" y="36576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2" name="badge-4"/>
          <p:cNvSpPr/>
          <p:nvPr/>
        </p:nvSpPr>
        <p:spPr>
          <a:xfrm>
            <a:off x="6446520" y="3931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465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91363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Discharge handover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343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Going home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47548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Glucose during the stay, lows, steroids, kidney changes, probable new diabetes, a follow-up to book.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Left out on purpose: chatbot · patient app for inpatients · automatic dosing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a twin</a:t>
            </a:r>
            <a:endParaRPr lang="en-US" sz="3000" dirty="0"/>
          </a:p>
        </p:txBody>
      </p:sp>
      <p:sp>
        <p:nvSpPr>
          <p:cNvPr id="3" name="l0"/>
          <p:cNvSpPr/>
          <p:nvPr/>
        </p:nvSpPr>
        <p:spPr>
          <a:xfrm>
            <a:off x="548640" y="1371600"/>
            <a:ext cx="16916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4" name="badge-1"/>
          <p:cNvSpPr/>
          <p:nvPr/>
        </p:nvSpPr>
        <p:spPr>
          <a:xfrm>
            <a:off x="1161288" y="148132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61288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842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Synchronise hourly</a:t>
            </a:r>
            <a:endParaRPr lang="en-US" sz="1300" dirty="0"/>
          </a:p>
        </p:txBody>
      </p:sp>
      <p:sp>
        <p:nvSpPr>
          <p:cNvPr id="7" name="l1"/>
          <p:cNvSpPr/>
          <p:nvPr/>
        </p:nvSpPr>
        <p:spPr>
          <a:xfrm>
            <a:off x="2423160" y="1371600"/>
            <a:ext cx="16916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8" name="badge-2"/>
          <p:cNvSpPr/>
          <p:nvPr/>
        </p:nvSpPr>
        <p:spPr>
          <a:xfrm>
            <a:off x="3035808" y="148132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035808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19842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 orders already written</a:t>
            </a:r>
            <a:endParaRPr lang="en-US" sz="1300" dirty="0"/>
          </a:p>
        </p:txBody>
      </p:sp>
      <p:sp>
        <p:nvSpPr>
          <p:cNvPr id="11" name="l2"/>
          <p:cNvSpPr/>
          <p:nvPr/>
        </p:nvSpPr>
        <p:spPr>
          <a:xfrm>
            <a:off x="4297680" y="1371600"/>
            <a:ext cx="16916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badge-3"/>
          <p:cNvSpPr/>
          <p:nvPr/>
        </p:nvSpPr>
        <p:spPr>
          <a:xfrm>
            <a:off x="4910328" y="148132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10328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389120" y="19842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Predict 12 h</a:t>
            </a:r>
            <a:endParaRPr lang="en-US" sz="1300" dirty="0"/>
          </a:p>
        </p:txBody>
      </p:sp>
      <p:sp>
        <p:nvSpPr>
          <p:cNvPr id="15" name="l3"/>
          <p:cNvSpPr/>
          <p:nvPr/>
        </p:nvSpPr>
        <p:spPr>
          <a:xfrm>
            <a:off x="6172200" y="1371600"/>
            <a:ext cx="1691640" cy="1234440"/>
          </a:xfrm>
          <a:prstGeom prst="roundRect">
            <a:avLst>
              <a:gd name="adj" fmla="val 8889"/>
            </a:avLst>
          </a:prstGeom>
          <a:solidFill>
            <a:srgbClr val="EDE9FE"/>
          </a:solidFill>
          <a:ln/>
        </p:spPr>
      </p:sp>
      <p:sp>
        <p:nvSpPr>
          <p:cNvPr id="16" name="badge-4"/>
          <p:cNvSpPr/>
          <p:nvPr/>
        </p:nvSpPr>
        <p:spPr>
          <a:xfrm>
            <a:off x="6784848" y="1481328"/>
            <a:ext cx="438912" cy="43891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84848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9842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Simulate a dose</a:t>
            </a:r>
            <a:endParaRPr lang="en-US" sz="1300" dirty="0"/>
          </a:p>
        </p:txBody>
      </p:sp>
      <p:sp>
        <p:nvSpPr>
          <p:cNvPr id="19" name="l4"/>
          <p:cNvSpPr/>
          <p:nvPr/>
        </p:nvSpPr>
        <p:spPr>
          <a:xfrm>
            <a:off x="8046720" y="1371600"/>
            <a:ext cx="16916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0" name="badge-5"/>
          <p:cNvSpPr/>
          <p:nvPr/>
        </p:nvSpPr>
        <p:spPr>
          <a:xfrm>
            <a:off x="8659368" y="148132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59368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19842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Check before giving</a:t>
            </a:r>
            <a:endParaRPr lang="en-US" sz="1300" dirty="0"/>
          </a:p>
        </p:txBody>
      </p:sp>
      <p:sp>
        <p:nvSpPr>
          <p:cNvPr id="23" name="l5"/>
          <p:cNvSpPr/>
          <p:nvPr/>
        </p:nvSpPr>
        <p:spPr>
          <a:xfrm>
            <a:off x="9921240" y="1371600"/>
            <a:ext cx="16916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4" name="badge-6"/>
          <p:cNvSpPr/>
          <p:nvPr/>
        </p:nvSpPr>
        <p:spPr>
          <a:xfrm>
            <a:off x="10533888" y="1481328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33888" y="1481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012680" y="19842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Record decisions</a:t>
            </a:r>
            <a:endParaRPr lang="en-US" sz="1300" dirty="0"/>
          </a:p>
        </p:txBody>
      </p:sp>
      <p:sp>
        <p:nvSpPr>
          <p:cNvPr id="27" name="t0"/>
          <p:cNvSpPr/>
          <p:nvPr/>
        </p:nvSpPr>
        <p:spPr>
          <a:xfrm>
            <a:off x="548640" y="29718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3136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Known future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3520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Tonight's basal, tomorrow's fasting order and the steroid course are written in advance. The twin uses them; published models cannot.</a:t>
            </a:r>
            <a:endParaRPr lang="en-US" sz="1350" dirty="0"/>
          </a:p>
        </p:txBody>
      </p:sp>
      <p:sp>
        <p:nvSpPr>
          <p:cNvPr id="30" name="t1"/>
          <p:cNvSpPr/>
          <p:nvPr/>
        </p:nvSpPr>
        <p:spPr>
          <a:xfrm>
            <a:off x="6172200" y="29718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3136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Honest uncertainty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3520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Every forecast has an 80% range that contains the outcome 81-91% of the time on test patients.</a:t>
            </a:r>
            <a:endParaRPr lang="en-US" sz="1350" dirty="0"/>
          </a:p>
        </p:txBody>
      </p:sp>
      <p:sp>
        <p:nvSpPr>
          <p:cNvPr id="33" name="t2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2960" y="4736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Hybrid what-if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Insulin effects come from a pharmacology layer, validated against counterfactual simulations, because record-trained models cannot learn them.</a:t>
            </a:r>
            <a:endParaRPr lang="en-US" sz="1350" dirty="0"/>
          </a:p>
        </p:txBody>
      </p:sp>
      <p:sp>
        <p:nvSpPr>
          <p:cNvPr id="36" name="t3"/>
          <p:cNvSpPr/>
          <p:nvPr/>
        </p:nvSpPr>
        <p:spPr>
          <a:xfrm>
            <a:off x="6172200" y="45720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46520" y="4736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Every decision recorded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Flags, what-ifs, given/held decisions, extra checks and bookings go to an audit log with the model version.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ward, real hospital formats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admissions over 60 days: sepsis, cardiac surgery, COPD/asthma, heart failure, orthopaedics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73k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057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FHIR R4 resources (Bulk Data NDJSON): the only thing the twin reads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1887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of admissions wear a CGM, which supplies outcome labels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915400" y="1188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0574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process failures injected at stated rates (hidden ground truth)</a:t>
            </a:r>
            <a:endParaRPr lang="en-US" sz="1350" dirty="0"/>
          </a:p>
        </p:txBody>
      </p:sp>
      <p:sp>
        <p:nvSpPr>
          <p:cNvPr id="11" name="d0"/>
          <p:cNvSpPr/>
          <p:nvPr/>
        </p:nvSpPr>
        <p:spPr>
          <a:xfrm>
            <a:off x="548640" y="329184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Physiology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Meals and how much is eaten, rapid and basal insulin, sulfonylureas, steroids peaking in the afternoon, stress, kidney injury, counter-regulation.</a:t>
            </a:r>
            <a:endParaRPr lang="en-US" sz="1400" dirty="0"/>
          </a:p>
        </p:txBody>
      </p:sp>
      <p:sp>
        <p:nvSpPr>
          <p:cNvPr id="14" name="d1"/>
          <p:cNvSpPr/>
          <p:nvPr/>
        </p:nvSpPr>
        <p:spPr>
          <a:xfrm>
            <a:off x="4297680" y="329184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Ward process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Fingerstick protocol, sliding scale, 09:00 titration round, fasting orders for procedures, hypoglycaemia protocol with rechecks.</a:t>
            </a:r>
            <a:endParaRPr lang="en-US" sz="1400" dirty="0"/>
          </a:p>
        </p:txBody>
      </p:sp>
      <p:sp>
        <p:nvSpPr>
          <p:cNvPr id="17" name="d2"/>
          <p:cNvSpPr/>
          <p:nvPr/>
        </p:nvSpPr>
        <p:spPr>
          <a:xfrm>
            <a:off x="8046720" y="3291840"/>
            <a:ext cx="35204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21040" y="34747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Counterfactual-ready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Each patient has independent random streams: change one dose and re-run, and everything before the dose is identical.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pic>
        <p:nvPicPr>
          <p:cNvPr id="3" name="arch" descr="/home/claude/glucotwin/presentation/asse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239212"/>
          </a:xfrm>
          <a:prstGeom prst="rect">
            <a:avLst/>
          </a:prstGeom>
        </p:spPr>
      </p:pic>
      <p:sp>
        <p:nvSpPr>
          <p:cNvPr id="4" name="a0"/>
          <p:cNvSpPr/>
          <p:nvPr/>
        </p:nvSpPr>
        <p:spPr>
          <a:xfrm>
            <a:off x="548640" y="475488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Data in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FHIR R4 Bulk export from the hospital system + CGM. Swap synthetic for real without touching the models.</a:t>
            </a:r>
            <a:endParaRPr lang="en-US" sz="1300" dirty="0"/>
          </a:p>
        </p:txBody>
      </p:sp>
      <p:sp>
        <p:nvSpPr>
          <p:cNvPr id="7" name="a1"/>
          <p:cNvSpPr/>
          <p:nvPr/>
        </p:nvSpPr>
        <p:spPr>
          <a:xfrm>
            <a:off x="4297680" y="475488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Models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LightGBM 12-h risk (fingerstick and CGM modes), 1-12 h forecasts with conformal ranges, pharmacology layer.</a:t>
            </a:r>
            <a:endParaRPr lang="en-US" sz="1300" dirty="0"/>
          </a:p>
        </p:txBody>
      </p:sp>
      <p:sp>
        <p:nvSpPr>
          <p:cNvPr id="10" name="a2"/>
          <p:cNvSpPr/>
          <p:nvPr/>
        </p:nvSpPr>
        <p:spPr>
          <a:xfrm>
            <a:off x="8046720" y="4754880"/>
            <a:ext cx="35204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32104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21040" y="5257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Streamlit ward app and REST API; SQLite store with snapshots, decisions and audit.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ward board at 21:00, before the bedtime insulin round</a:t>
            </a:r>
            <a:endParaRPr lang="en-US" sz="3000" dirty="0"/>
          </a:p>
        </p:txBody>
      </p:sp>
      <p:pic>
        <p:nvPicPr>
          <p:cNvPr id="3" name="board" descr="/home/claude/glucotwin/presentation/assets/ward_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583680" cy="51684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pic>
      <p:sp>
        <p:nvSpPr>
          <p:cNvPr id="4" name="badge-1"/>
          <p:cNvSpPr/>
          <p:nvPr/>
        </p:nvSpPr>
        <p:spPr>
          <a:xfrm>
            <a:off x="7589520" y="13258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5895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30759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Sorted by risk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69164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Two red patients (risk of a low), five amber (likely severe high).</a:t>
            </a:r>
            <a:endParaRPr lang="en-US" sz="1350" dirty="0"/>
          </a:p>
        </p:txBody>
      </p:sp>
      <p:sp>
        <p:nvSpPr>
          <p:cNvPr id="8" name="badge-2"/>
          <p:cNvSpPr/>
          <p:nvPr/>
        </p:nvSpPr>
        <p:spPr>
          <a:xfrm>
            <a:off x="7589520" y="278892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27706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Reasons in ward language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315468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From each patient's own record: readings under 100, steroid given this morning, fasting tomorrow.</a:t>
            </a:r>
            <a:endParaRPr lang="en-US" sz="1350" dirty="0"/>
          </a:p>
        </p:txBody>
      </p:sp>
      <p:sp>
        <p:nvSpPr>
          <p:cNvPr id="12" name="badge-3"/>
          <p:cNvSpPr/>
          <p:nvPr/>
        </p:nvSpPr>
        <p:spPr>
          <a:xfrm>
            <a:off x="7589520" y="42519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58952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42336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Actions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46177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Insulin doses to review; CGM suggested; extra check times.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patient's twin: check, simulate, monitor</a:t>
            </a:r>
            <a:endParaRPr lang="en-US" sz="3000" dirty="0"/>
          </a:p>
        </p:txBody>
      </p:sp>
      <p:pic>
        <p:nvPicPr>
          <p:cNvPr id="3" name="pt" descr="/home/claude/glucotwin/presentation/assets/patient_tw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669280" cy="5059965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pic>
      <p:sp>
        <p:nvSpPr>
          <p:cNvPr id="4" name="badge-1"/>
          <p:cNvSpPr/>
          <p:nvPr/>
        </p:nvSpPr>
        <p:spPr>
          <a:xfrm>
            <a:off x="6858000" y="12801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452360" y="12618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Before you give insulin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64592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Basal 14 U due at 22:00: 98% chance of a low in 12 h if given as ordered.</a:t>
            </a:r>
            <a:endParaRPr lang="en-US" sz="1350" dirty="0"/>
          </a:p>
        </p:txBody>
      </p:sp>
      <p:sp>
        <p:nvSpPr>
          <p:cNvPr id="8" name="badge-2"/>
          <p:cNvSpPr/>
          <p:nvPr/>
        </p:nvSpPr>
        <p:spPr>
          <a:xfrm>
            <a:off x="6858000" y="2880360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28620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Doctor what-if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324612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Hold the dose: forecast rises ~38 mg/dL (violet), chance of a low falls. The doctor decides; the decision is recorded.</a:t>
            </a:r>
            <a:endParaRPr lang="en-US" sz="1350" dirty="0"/>
          </a:p>
        </p:txBody>
      </p:sp>
      <p:sp>
        <p:nvSpPr>
          <p:cNvPr id="12" name="badge-3"/>
          <p:cNvSpPr/>
          <p:nvPr/>
        </p:nvSpPr>
        <p:spPr>
          <a:xfrm>
            <a:off x="6858000" y="44805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85800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452360" y="446227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 monitoring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4846320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Extra check suggested at 01:00 and a CGM for this patient.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live twin beats an admission-time model by a wide margin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772400" y="1280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148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of lows flagged red before they started (fingersticks), median 11 h ahead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926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3794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red hours per patient-day: a light alert load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45720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81-91%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5440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of outcomes fall inside the twin's 80% forecast range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insulin check catches unsafe doses before they are given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828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Injected process failure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before the dose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Mealtime insulin while nil by mouth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/ 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Basal not reduced the night before a fast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/ 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 not reduced after the steroid course ended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/ 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 not reduced after kidney injury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 / 91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Sulfonylurea given while fasting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3258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1945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of all injected unsafe situations flagged (bedside rules, all 800 admissions)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32004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4069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of routine doses get a high-level flag: low noise for nurses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029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Rules a nurse can verify at the bedside: fasting, poor intake, steroid stopped, kidney injury, low recent glucose. The twin never proposes a dose.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Dose what-ifs: pharmacology beats learning from records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wi1"/>
          <p:cNvSpPr/>
          <p:nvPr/>
        </p:nvSpPr>
        <p:spPr>
          <a:xfrm>
            <a:off x="6583680" y="1280160"/>
            <a:ext cx="5029200" cy="2103120"/>
          </a:xfrm>
          <a:prstGeom prst="roundRect">
            <a:avLst>
              <a:gd name="adj" fmla="val 5217"/>
            </a:avLst>
          </a:prstGeom>
          <a:solidFill>
            <a:srgbClr val="F5F3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Holding tonight's basal: glucose at 6 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965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+25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twin +23   ·   learned model +2 mg/dL</a:t>
            </a:r>
            <a:endParaRPr lang="en-US" sz="2000" dirty="0"/>
          </a:p>
        </p:txBody>
      </p:sp>
      <p:sp>
        <p:nvSpPr>
          <p:cNvPr id="7" name="wi2"/>
          <p:cNvSpPr/>
          <p:nvPr/>
        </p:nvSpPr>
        <p:spPr>
          <a:xfrm>
            <a:off x="6583680" y="3611880"/>
            <a:ext cx="5029200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42062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Doctors give more insulin to patients who run high, so a model trained on records cannot separate a dose's effect from its reason (confounding by indication). The twin uses textbook insulin action profiles × the patient's insulin sensitivity, scaled on training patients and tested on counterfactual re-runs of test patients.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4864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Mealtime insulin: error 5.4 vs 10.7 mg/dL · 60 test dose events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Fingersticks miss most lows: target the patients who need more</a:t>
            </a:r>
            <a:endParaRPr lang="en-US" sz="3000" dirty="0"/>
          </a:p>
        </p:txBody>
      </p:sp>
      <p:pic>
        <p:nvPicPr>
          <p:cNvPr id="3" name="sm" descr="/home/claude/glucotwin/evaluation/figures/smart_monit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132320" cy="306689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0" y="12344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8046720" y="2103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of CGM-recorded lows are caught by routine fingersticks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7432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 vs 0.9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3611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extra lows caught per 100 extra checks: twin-targeted vs a 3 am check for everyone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4251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5120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of lows happen after the twin's first red flag: a CGM then needs a sensor on only 9% of patients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Discharge handover closes the loop the ward drops</a:t>
            </a:r>
            <a:endParaRPr lang="en-US" sz="3000" dirty="0"/>
          </a:p>
        </p:txBody>
      </p:sp>
      <p:pic>
        <p:nvPicPr>
          <p:cNvPr id="3" name="dc" descr="/home/claude/glucotwin/presentation/assets/disch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766560" cy="347813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94A3B8">
                <a:alpha val="3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772400" y="1280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772400" y="2148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of 127 patients with undiagnosed diabetes identified (64%) or prompted for HbA1c (28%)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3291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4160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</a:rPr>
              <a:t>false new diagnoses among patients with stress hyperglycaemia only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9377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</a:rPr>
              <a:t>Also on the page: lows during the stay, steroid course, kidney changes, insulin started in hospital, a follow-up to book. It brings follow-up visits back to the hospital's own diabetes clinic.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one real ward</a:t>
            </a:r>
            <a:endParaRPr lang="en-US" sz="3000" dirty="0"/>
          </a:p>
        </p:txBody>
      </p:sp>
      <p:sp>
        <p:nvSpPr>
          <p:cNvPr id="3" name="st0"/>
          <p:cNvSpPr/>
          <p:nvPr/>
        </p:nvSpPr>
        <p:spPr>
          <a:xfrm>
            <a:off x="548640" y="1371600"/>
            <a:ext cx="2633472" cy="30175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4" name="badge-1"/>
          <p:cNvSpPr/>
          <p:nvPr/>
        </p:nvSpPr>
        <p:spPr>
          <a:xfrm>
            <a:off x="777240" y="155448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Integrate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4-6 weeks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FHIR export from the hospital system: encounters, fingersticks, MAR, diet/NPO orders, labs. Connected glucometers if available.</a:t>
            </a:r>
            <a:endParaRPr lang="en-US" sz="1300" dirty="0"/>
          </a:p>
        </p:txBody>
      </p:sp>
      <p:sp>
        <p:nvSpPr>
          <p:cNvPr id="9" name="st1"/>
          <p:cNvSpPr/>
          <p:nvPr/>
        </p:nvSpPr>
        <p:spPr>
          <a:xfrm>
            <a:off x="3364992" y="1371600"/>
            <a:ext cx="2633472" cy="30175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0" name="badge-2"/>
          <p:cNvSpPr/>
          <p:nvPr/>
        </p:nvSpPr>
        <p:spPr>
          <a:xfrm>
            <a:off x="3593592" y="155448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93592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42232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Shadow mode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months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5146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One ward. Predictions recorded, not shown. Measure real accuracy; recalibrate thresholds; test the what-if on real dose changes.</a:t>
            </a:r>
            <a:endParaRPr lang="en-US" sz="1300" dirty="0"/>
          </a:p>
        </p:txBody>
      </p:sp>
      <p:sp>
        <p:nvSpPr>
          <p:cNvPr id="15" name="st2"/>
          <p:cNvSpPr/>
          <p:nvPr/>
        </p:nvSpPr>
        <p:spPr>
          <a:xfrm>
            <a:off x="6181344" y="1371600"/>
            <a:ext cx="2633472" cy="30175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6" name="badge-3"/>
          <p:cNvSpPr/>
          <p:nvPr/>
        </p:nvSpPr>
        <p:spPr>
          <a:xfrm>
            <a:off x="6409944" y="155448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9944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58584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09944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months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9944" y="25146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Board and checks shown to staff; compare with shadow period and a matched ward.</a:t>
            </a:r>
            <a:endParaRPr lang="en-US" sz="1300" dirty="0"/>
          </a:p>
        </p:txBody>
      </p:sp>
      <p:sp>
        <p:nvSpPr>
          <p:cNvPr id="21" name="st3"/>
          <p:cNvSpPr/>
          <p:nvPr/>
        </p:nvSpPr>
        <p:spPr>
          <a:xfrm>
            <a:off x="8997696" y="1371600"/>
            <a:ext cx="2633472" cy="301752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22" name="badge-4"/>
          <p:cNvSpPr/>
          <p:nvPr/>
        </p:nvSpPr>
        <p:spPr>
          <a:xfrm>
            <a:off x="9226296" y="155448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26296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774936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Decide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2148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Gate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251460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Expand, change or stop on lows per 100 patient-days, good diabetes days, flags overridden, nurse time, new diabetes captured, follow-ups.</a:t>
            </a:r>
            <a:endParaRPr lang="en-US" sz="1300" dirty="0"/>
          </a:p>
        </p:txBody>
      </p:sp>
      <p:sp>
        <p:nvSpPr>
          <p:cNvPr id="27" name="reg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FFBE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Regulation and privacy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1663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</a:rPr>
              <a:t>CDSCO medical device software guidance (July 2026): prediction/monitoring software is medical device software; AI must disclose training data (real or synthetic), Indian sub-population robustness, change control and drift monitoring. Positioned as decision support with human review and no dose recommendation. DPDP by design.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stated plainly</a:t>
            </a:r>
            <a:endParaRPr lang="en-US" sz="3000" dirty="0"/>
          </a:p>
        </p:txBody>
      </p:sp>
      <p:sp>
        <p:nvSpPr>
          <p:cNvPr id="3" name="badge-1"/>
          <p:cNvSpPr/>
          <p:nvPr/>
        </p:nvSpPr>
        <p:spPr>
          <a:xfrm>
            <a:off x="548640" y="13716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417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All evidence is synthetic: the next step is shadow mode on real ward data.</a:t>
            </a:r>
            <a:endParaRPr lang="en-US" sz="1700" dirty="0"/>
          </a:p>
        </p:txBody>
      </p:sp>
      <p:sp>
        <p:nvSpPr>
          <p:cNvPr id="6" name="badge-2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317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The simulator sets physiology, ward routines and failure rates; real wards will differ.</a:t>
            </a:r>
            <a:endParaRPr lang="en-US" sz="1700" dirty="0"/>
          </a:p>
        </p:txBody>
      </p:sp>
      <p:sp>
        <p:nvSpPr>
          <p:cNvPr id="9" name="badge-3"/>
          <p:cNvSpPr/>
          <p:nvPr/>
        </p:nvSpPr>
        <p:spPr>
          <a:xfrm>
            <a:off x="548640" y="32004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246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Dose what-ifs are validated on counterfactuals that share the simulator's assumptions.</a:t>
            </a:r>
            <a:endParaRPr lang="en-US" sz="1700" dirty="0"/>
          </a:p>
        </p:txBody>
      </p:sp>
      <p:sp>
        <p:nvSpPr>
          <p:cNvPr id="12" name="badge-4"/>
          <p:cNvSpPr/>
          <p:nvPr/>
        </p:nvSpPr>
        <p:spPr>
          <a:xfrm>
            <a:off x="548640" y="41148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1605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Fingersticks have a low ceiling for catching lows; that is why the CGM suggestion matters.</a:t>
            </a:r>
            <a:endParaRPr lang="en-US" sz="1700" dirty="0"/>
          </a:p>
        </p:txBody>
      </p:sp>
      <p:sp>
        <p:nvSpPr>
          <p:cNvPr id="15" name="badge-5"/>
          <p:cNvSpPr/>
          <p:nvPr/>
        </p:nvSpPr>
        <p:spPr>
          <a:xfrm>
            <a:off x="548640" y="50292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50749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</a:rPr>
              <a:t>Not covered: ICU, insulin infusions, tube feeds, type 1 diabetes, DKA, children, pregnancy.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inpatient with diabetes gets a twin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warns, checks, targets and hands over.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0.47 vs 0.12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AUPRC for lows: twin vs admission model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unsafe doses flagged before giving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of lows covered by a CGM on 9% of patients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2743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3611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undiagnosed diabetes caught at discharge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9F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github.com/ritwiksarkar11/glucotwin  ·  make app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Research prototype on synthetic patients · Apache-2.0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ucoTwin Ward">
  <a:themeElements>
    <a:clrScheme name="GlucoTwin Ward">
      <a:dk1>
        <a:srgbClr val="0F172A"/>
      </a:dk1>
      <a:lt1>
        <a:srgbClr val="FFFFFF"/>
      </a:lt1>
      <a:dk2>
        <a:srgbClr val="134E4A"/>
      </a:dk2>
      <a:lt2>
        <a:srgbClr val="F1F5F9"/>
      </a:lt2>
      <a:accent1>
        <a:srgbClr val="0F766E"/>
      </a:accent1>
      <a:accent2>
        <a:srgbClr val="D97706"/>
      </a:accent2>
      <a:accent3>
        <a:srgbClr val="DC2626"/>
      </a:accent3>
      <a:accent4>
        <a:srgbClr val="2563EB"/>
      </a:accent4>
      <a:accent5>
        <a:srgbClr val="7C3AED"/>
      </a:accent5>
      <a:accent6>
        <a:srgbClr val="059669"/>
      </a:accent6>
      <a:hlink>
        <a:srgbClr val="0F766E"/>
      </a:hlink>
      <a:folHlink>
        <a:srgbClr val="134E4A"/>
      </a:folHlink>
    </a:clrScheme>
    <a:fontScheme name="GlucoTwin W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GlucoTwin Ward</dc:title>
  <dc:subject>PptxGenJS Presentation</dc:subject>
  <dc:creator>GlucoTwin team</dc:creator>
  <cp:lastModifiedBy>GlucoTwin team</cp:lastModifiedBy>
  <cp:revision>1</cp:revision>
  <dcterms:created xsi:type="dcterms:W3CDTF">2026-10-17T00:23:24Z</dcterms:created>
  <dcterms:modified xsi:type="dcterms:W3CDTF">2026-10-17T00:23:24Z</dcterms:modified>
</cp:coreProperties>
</file>